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Funnel Sans" panose="020B0604020202020204" charset="0"/>
      <p:regular r:id="rId17"/>
    </p:embeddedFont>
    <p:embeddedFont>
      <p:font typeface="Mona Sans Semi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53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27854"/>
            <a:ext cx="7556421" cy="5670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Lead Scoring System Using Machine Learning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693872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Accelerating Sales Efficiency with Data-Driven Insights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439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Addressing Current Challenges in Lead Management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8526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4" name="Shape 2"/>
          <p:cNvSpPr/>
          <p:nvPr/>
        </p:nvSpPr>
        <p:spPr>
          <a:xfrm>
            <a:off x="2551688" y="277558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73B4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761" y="2945725"/>
            <a:ext cx="272177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3682722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Lead Volume &amp; Qualification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4527471"/>
            <a:ext cx="368177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 teams are overwhelmed by a large influx of leads from diverse sources, making it difficult to identify genuinely promising opportunities. Without a clear system, valuable time is spent on unqualified or "cold" leads.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8526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9" name="Shape 6"/>
          <p:cNvSpPr/>
          <p:nvPr/>
        </p:nvSpPr>
        <p:spPr>
          <a:xfrm>
            <a:off x="6974860" y="277558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73B4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933" y="2945725"/>
            <a:ext cx="272177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4256" y="3682722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Inefficient Resource Allocation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74256" y="4527471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absence of a data-driven approach means sales resources are not optimally utilized. This leads to wasted effort on low-potential leads and a slower response to high-value prospects.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08526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14" name="Shape 10"/>
          <p:cNvSpPr/>
          <p:nvPr/>
        </p:nvSpPr>
        <p:spPr>
          <a:xfrm>
            <a:off x="11398032" y="277558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73B4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2105" y="2945725"/>
            <a:ext cx="272177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97427" y="3682722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Missed Revenue Opportunities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97427" y="4527471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Without the ability to quickly prioritize and act on the most promising leads, the business faces delayed conversions and potentially missed revenue targets.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137" y="413385"/>
            <a:ext cx="7840742" cy="469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Strategic Objectives &amp; Expected Outcomes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6137" y="1258967"/>
            <a:ext cx="1879163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Core Objectives: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6137" y="1662827"/>
            <a:ext cx="601266" cy="926068"/>
          </a:xfrm>
          <a:prstGeom prst="roundRect">
            <a:avLst>
              <a:gd name="adj" fmla="val 36006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4018" y="1984891"/>
            <a:ext cx="225504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77660" y="1813084"/>
            <a:ext cx="1879163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Smart Lead Ranking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77660" y="2198132"/>
            <a:ext cx="5854184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 a system to prioritize leads based on conversion probability.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6137" y="2701647"/>
            <a:ext cx="601266" cy="926068"/>
          </a:xfrm>
          <a:prstGeom prst="roundRect">
            <a:avLst>
              <a:gd name="adj" fmla="val 36006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018" y="3023711"/>
            <a:ext cx="225504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277660" y="2851904"/>
            <a:ext cx="211347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Automated ML Pipeline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77660" y="3236952"/>
            <a:ext cx="5854184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 a scalable, transparent, and continuous ML pipeline.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6137" y="3740468"/>
            <a:ext cx="601266" cy="926068"/>
          </a:xfrm>
          <a:prstGeom prst="roundRect">
            <a:avLst>
              <a:gd name="adj" fmla="val 36006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4018" y="4062532"/>
            <a:ext cx="225504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77660" y="3890724"/>
            <a:ext cx="1879163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CRM Integration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77660" y="4275773"/>
            <a:ext cx="5854184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Seamlessly integrate with existing systems for real-time intelligence.</a:t>
            </a:r>
            <a:endParaRPr lang="en-US" sz="11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176" y="1277779"/>
            <a:ext cx="6605707" cy="660570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06176" y="8052554"/>
            <a:ext cx="2757249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Expected Business Outcomes: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506176" y="8437602"/>
            <a:ext cx="6605707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Significant increase in conversion rates.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506176" y="8730615"/>
            <a:ext cx="6605707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Measurable reduction in the sales cycle duration.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506176" y="9023628"/>
            <a:ext cx="6605707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Optimized allocation of sales resources, maximizing ROI.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8665"/>
            <a:ext cx="99555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End-to-End ML Pipeline Architecture</a:t>
            </a:r>
            <a:endParaRPr lang="en-US" sz="44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87" y="1349336"/>
            <a:ext cx="14014382" cy="6831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9154"/>
            <a:ext cx="92854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Business Capabilities &amp; Value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11561"/>
            <a:ext cx="13042821" cy="5368766"/>
          </a:xfrm>
          <a:prstGeom prst="roundRect">
            <a:avLst>
              <a:gd name="adj" fmla="val 177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01918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162889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Capability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2162889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Business Value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266950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343" y="2813209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Lead Scoring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940379" y="2813209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Prioritize leads with higher conversion probability, focusing sales efforts effectively.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319820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343" y="3463528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Automated Retraining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940379" y="3463528"/>
            <a:ext cx="86617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Ensures models remain updated with market shifts without manual intervention, maintaining accuracy.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333042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447675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 Explainability (SHAP)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940379" y="4476750"/>
            <a:ext cx="86617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Provides transparency into why a lead is prioritized, building trust and enabling data-driven conversations.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346263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548997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CRM Integration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5489972"/>
            <a:ext cx="86617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Makes model insights actionable by embedding them directly into existing sales workflows for immediate impact.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6359485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343" y="650319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Scalable Infrastructure (AWS)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940379" y="6503194"/>
            <a:ext cx="86617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Designed to grow seamlessly with business needs and increasing data volumes, ensuring future readiness.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987" y="664726"/>
            <a:ext cx="8632388" cy="586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Optimized ROI &amp; Performance Metrics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6987" y="1720453"/>
            <a:ext cx="3537585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Advanced ML Models Deployed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6987" y="2201347"/>
            <a:ext cx="642925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Logistic Regression:</a:t>
            </a: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Baseline for binary classification.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6987" y="2567345"/>
            <a:ext cx="6429256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Random Forest:</a:t>
            </a: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Handles complex interactions and robust against overfitting.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6987" y="3233738"/>
            <a:ext cx="6429256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Gradient Boosting (XGBoost, LightGBM):</a:t>
            </a: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State-of-the-art for high predictive accuracy.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6987" y="4003358"/>
            <a:ext cx="6429256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models and experiments are meticulously tracked in MLflow for complete auditability and reproducibility.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51777" y="1720453"/>
            <a:ext cx="2907149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Tangible Business Impact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51777" y="2318623"/>
            <a:ext cx="3097292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30-50%</a:t>
            </a:r>
            <a:endParaRPr lang="en-US" sz="4850" dirty="0"/>
          </a:p>
        </p:txBody>
      </p:sp>
      <p:sp>
        <p:nvSpPr>
          <p:cNvPr id="10" name="Text 8"/>
          <p:cNvSpPr/>
          <p:nvPr/>
        </p:nvSpPr>
        <p:spPr>
          <a:xfrm>
            <a:off x="7927181" y="3172539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Accuracy Increase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51777" y="3653433"/>
            <a:ext cx="3097292" cy="90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Improvement in lead conversion prioritization accuracy, ensuring focus on best prospects.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883622" y="2318623"/>
            <a:ext cx="3097411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Reduced</a:t>
            </a:r>
            <a:endParaRPr lang="en-US" sz="4850" dirty="0"/>
          </a:p>
        </p:txBody>
      </p:sp>
      <p:sp>
        <p:nvSpPr>
          <p:cNvPr id="13" name="Text 11"/>
          <p:cNvSpPr/>
          <p:nvPr/>
        </p:nvSpPr>
        <p:spPr>
          <a:xfrm>
            <a:off x="11259026" y="3172539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Sales Effort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883622" y="3653433"/>
            <a:ext cx="3097411" cy="90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Significantly decreased effort required per conversion, optimizing sales team productivity.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217700" y="5117663"/>
            <a:ext cx="3097292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Faster</a:t>
            </a:r>
            <a:endParaRPr lang="en-US" sz="4850" dirty="0"/>
          </a:p>
        </p:txBody>
      </p:sp>
      <p:sp>
        <p:nvSpPr>
          <p:cNvPr id="16" name="Text 14"/>
          <p:cNvSpPr/>
          <p:nvPr/>
        </p:nvSpPr>
        <p:spPr>
          <a:xfrm>
            <a:off x="9593104" y="5971580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Follow-up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17700" y="6452473"/>
            <a:ext cx="3097292" cy="90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High-scoring leads receive quicker attention, directly leading to higher close rates.</a:t>
            </a:r>
            <a:endParaRPr lang="en-US" sz="14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9D8FF3-C097-4167-890F-122C9419DBC8}"/>
              </a:ext>
            </a:extLst>
          </p:cNvPr>
          <p:cNvSpPr/>
          <p:nvPr/>
        </p:nvSpPr>
        <p:spPr>
          <a:xfrm>
            <a:off x="423511" y="4710201"/>
            <a:ext cx="7315200" cy="3696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ts val="235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</a:rPr>
              <a:t>Our </a:t>
            </a:r>
            <a:r>
              <a:rPr lang="en-US" sz="1400" b="1" dirty="0">
                <a:solidFill>
                  <a:srgbClr val="52586B"/>
                </a:solidFill>
                <a:latin typeface="Funnel Sans" pitchFamily="34" charset="0"/>
              </a:rPr>
              <a:t>Best Model Light GBM </a:t>
            </a:r>
            <a:r>
              <a:rPr lang="en-US" sz="1400" dirty="0">
                <a:solidFill>
                  <a:srgbClr val="52586B"/>
                </a:solidFill>
                <a:latin typeface="Funnel Sans" pitchFamily="34" charset="0"/>
              </a:rPr>
              <a:t>has scored an accuracy of </a:t>
            </a:r>
            <a:r>
              <a:rPr lang="en-US" sz="1400" b="1" dirty="0">
                <a:solidFill>
                  <a:srgbClr val="52586B"/>
                </a:solidFill>
                <a:latin typeface="Funnel Sans" pitchFamily="34" charset="0"/>
              </a:rPr>
              <a:t>94%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568523"/>
            <a:ext cx="8562975" cy="6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Robust Deployment &amp; Automation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33" y="1626037"/>
            <a:ext cx="619125" cy="619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2233" y="2503051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S3 &amp; Redshift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22233" y="2949297"/>
            <a:ext cx="4223385" cy="99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Secure, scalable storage for all data and a high-performance data warehouse for analytics.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508" y="1626037"/>
            <a:ext cx="619125" cy="619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03508" y="2503051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AWS Glue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203508" y="2949297"/>
            <a:ext cx="4223385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Automated ETL jobs ensure clean, consistent, and reliable datasets for model training.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4782" y="1626037"/>
            <a:ext cx="619125" cy="6191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4782" y="2503051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SageMaker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9684782" y="2949297"/>
            <a:ext cx="4223385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Enables scalable and efficient training of machine learning models.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233" y="4455319"/>
            <a:ext cx="619125" cy="6191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2233" y="5332333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EC2 &amp; Flask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722233" y="5778579"/>
            <a:ext cx="4223385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Provides a robust and responsive real-time inference endpoint for lead scoring.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508" y="4455319"/>
            <a:ext cx="619125" cy="6191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03508" y="5332333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Airflow &amp; Evidently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5203508" y="5778579"/>
            <a:ext cx="4223385" cy="99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Orchestrates automated retraining workflows and monitors model performance for data drift.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22233" y="7000875"/>
            <a:ext cx="13185934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fully automated and self-monitoring infrastructure ensures an "always-on" system with minimal human oversight, positioning the business for future AI/ML endeavors.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91602" y="781391"/>
            <a:ext cx="64959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User Interface Overview</a:t>
            </a:r>
            <a:endParaRPr lang="en-US" sz="44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59" y="2365378"/>
            <a:ext cx="7642509" cy="48728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008" y="2365378"/>
            <a:ext cx="6241184" cy="4872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1248" y="362426"/>
            <a:ext cx="7102197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Transformative Impact on Sales &amp; Marketing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61248" y="1103828"/>
            <a:ext cx="16475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Before the System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48" y="1458039"/>
            <a:ext cx="6693218" cy="66932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1248" y="8299490"/>
            <a:ext cx="6693218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Undifferentiated Leads:</a:t>
            </a: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All leads were treated equally, regardless of their actual potential or interest.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61248" y="8556427"/>
            <a:ext cx="6693218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Low Campaign ROI:</a:t>
            </a: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Marketing campaigns struggled to convert effectively due to a lack of targeted follow-up.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61248" y="8813363"/>
            <a:ext cx="6693218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Limited Insight:</a:t>
            </a: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Sales and marketing teams had minimal understanding of true lead quality.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83554" y="1103828"/>
            <a:ext cx="16475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After the System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554" y="1458039"/>
            <a:ext cx="6693218" cy="66932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83554" y="8299490"/>
            <a:ext cx="6693218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Prioritized Engagement:</a:t>
            </a: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High-intent leads are identified and prioritized, ensuring immediate sales attention.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483554" y="8556427"/>
            <a:ext cx="6693218" cy="42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Improved Campaign ROI:</a:t>
            </a: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Lead behavior analysis enables targeted follow-up, boosting conversion rates from campaigns.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483554" y="9024223"/>
            <a:ext cx="6693218" cy="42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Faster Closures:</a:t>
            </a: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Sales teams engage with warm leads proactively, leading to significantly faster closing cycles.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Got Questions?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We're ready to answer any questions you may have about the lead scoring system and its implementation. Let's discuss how this solution can benefit your business.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683</Words>
  <Application>Microsoft Office PowerPoint</Application>
  <PresentationFormat>Custom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Funnel Sans</vt:lpstr>
      <vt:lpstr>Mona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Venkat Sai kancherla</cp:lastModifiedBy>
  <cp:revision>2</cp:revision>
  <dcterms:created xsi:type="dcterms:W3CDTF">2025-07-22T16:51:39Z</dcterms:created>
  <dcterms:modified xsi:type="dcterms:W3CDTF">2025-07-22T17:02:16Z</dcterms:modified>
</cp:coreProperties>
</file>